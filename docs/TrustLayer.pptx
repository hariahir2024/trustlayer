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3-10.svg" ContentType="image/svg+xml"/>
  <Override PartName="/ppt/media/image-3-4.svg" ContentType="image/svg+xml"/>
  <Override PartName="/ppt/media/image-3-6.svg" ContentType="image/svg+xml"/>
  <Override PartName="/ppt/media/image-3-8.svg" ContentType="image/svg+xml"/>
  <Override PartName="/ppt/media/image-4-11.svg" ContentType="image/svg+xml"/>
  <Override PartName="/ppt/media/image-4-5.svg" ContentType="image/svg+xml"/>
  <Override PartName="/ppt/media/image-4-7.svg" ContentType="image/svg+xml"/>
  <Override PartName="/ppt/media/image-4-9.svg" ContentType="image/svg+xml"/>
  <Override PartName="/ppt/media/image-7-10.svg" ContentType="image/svg+xml"/>
  <Override PartName="/ppt/media/image-7-14.svg" ContentType="image/svg+xml"/>
  <Override PartName="/ppt/media/image-7-16.svg" ContentType="image/svg+xml"/>
  <Override PartName="/ppt/media/image-7-2.svg" ContentType="image/svg+xml"/>
  <Override PartName="/ppt/media/image-7-6.svg" ContentType="image/svg+xml"/>
  <Override PartName="/ppt/media/image-9-2.svg" ContentType="image/svg+xml"/>
  <Override PartName="/ppt/media/image-9-4.svg" ContentType="image/svg+xml"/>
  <Override PartName="/ppt/media/image-9-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 SemiBold"/>
      <p:regular r:id="rId201314"/>
    </p:embeddedFont>
    <p:embeddedFont>
      <p:font typeface="Barlow Thin"/>
      <p:regular r:id="rId201315"/>
    </p:embeddedFont>
    <p:embeddedFont>
      <p:font typeface="Barlow ExtraLight"/>
      <p:regular r:id="rId201316"/>
    </p:embeddedFont>
    <p:embeddedFont>
      <p:font typeface="Barlow Light"/>
      <p:regular r:id="rId201317"/>
    </p:embeddedFont>
    <p:embeddedFont>
      <p:font typeface="Barlow"/>
      <p:regular r:id="rId201318"/>
    </p:embeddedFont>
    <p:embeddedFont>
      <p:font typeface="Barlow Medium"/>
      <p:regular r:id="rId201319"/>
    </p:embeddedFont>
    <p:embeddedFont>
      <p:font typeface="Barlow Bold"/>
      <p:regular r:id="rId201320"/>
    </p:embeddedFont>
    <p:embeddedFont>
      <p:font typeface="Barlow ExtraBold"/>
      <p:regular r:id="rId201321"/>
    </p:embeddedFont>
    <p:embeddedFont>
      <p:font typeface="Barlow Black"/>
      <p:regular r:id="rId201322"/>
    </p:embeddedFont>
    <p:embeddedFont>
      <p:font typeface="Spline Sans Medium"/>
      <p:regular r:id="rId201323"/>
    </p:embeddedFont>
    <p:embeddedFont>
      <p:font typeface="Spline Sans SemiBold"/>
      <p:regular r:id="rId201324"/>
    </p:embeddedFont>
    <p:embeddedFont>
      <p:font typeface="Spline Sans Bold"/>
      <p:regular r:id="rId201325"/>
    </p:embeddedFont>
    <p:embeddedFont>
      <p:font typeface="Spline Sans Light"/>
      <p:regular r:id="rId201326"/>
    </p:embeddedFont>
    <p:embeddedFont>
      <p:font typeface="Spline Sans"/>
      <p:regular r:id="rId2013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Relationship Id="rId201319" Type="http://schemas.openxmlformats.org/officeDocument/2006/relationships/font" Target="fonts/201319.fntdata"/><Relationship Id="rId201320" Type="http://schemas.openxmlformats.org/officeDocument/2006/relationships/font" Target="fonts/201320.fntdata"/><Relationship Id="rId201321" Type="http://schemas.openxmlformats.org/officeDocument/2006/relationships/font" Target="fonts/201321.fntdata"/><Relationship Id="rId201322" Type="http://schemas.openxmlformats.org/officeDocument/2006/relationships/font" Target="fonts/201322.fntdata"/><Relationship Id="rId201323" Type="http://schemas.openxmlformats.org/officeDocument/2006/relationships/font" Target="fonts/201323.fntdata"/><Relationship Id="rId201324" Type="http://schemas.openxmlformats.org/officeDocument/2006/relationships/font" Target="fonts/201324.fntdata"/><Relationship Id="rId201325" Type="http://schemas.openxmlformats.org/officeDocument/2006/relationships/font" Target="fonts/201325.fntdata"/><Relationship Id="rId201326" Type="http://schemas.openxmlformats.org/officeDocument/2006/relationships/font" Target="fonts/201326.fntdata"/><Relationship Id="rId201327" Type="http://schemas.openxmlformats.org/officeDocument/2006/relationships/font" Target="fonts/201327.fntdata"/><Relationship Id="rId201328" Type="http://schemas.openxmlformats.org/officeDocument/2006/relationships/font" Target="fonts/201328.fntdata"/><Relationship Id="rId201329" Type="http://schemas.openxmlformats.org/officeDocument/2006/relationships/font" Target="fonts/201329.fntdata"/><Relationship Id="rId201330" Type="http://schemas.openxmlformats.org/officeDocument/2006/relationships/font" Target="fonts/201330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5.png"/><Relationship Id="rId8" Type="http://schemas.openxmlformats.org/officeDocument/2006/relationships/image" Target="../media/image-7-6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9.png"/><Relationship Id="rId12" Type="http://schemas.openxmlformats.org/officeDocument/2006/relationships/image" Target="../media/image-7-10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1149846"/>
            <a:ext cx="2843737" cy="394395"/>
          </a:xfrm>
          <a:prstGeom prst="roundRect">
            <a:avLst>
              <a:gd name="adj" fmla="val 63834"/>
            </a:avLst>
          </a:prstGeom>
          <a:solidFill>
            <a:srgbClr val="004D36"/>
          </a:solidFill>
          <a:ln/>
        </p:spPr>
      </p:sp>
      <p:sp>
        <p:nvSpPr>
          <p:cNvPr id="3" name="Shape 1"/>
          <p:cNvSpPr/>
          <p:nvPr/>
        </p:nvSpPr>
        <p:spPr>
          <a:xfrm>
            <a:off x="860007" y="1263154"/>
            <a:ext cx="167775" cy="167779"/>
          </a:xfrm>
          <a:prstGeom prst="rect">
            <a:avLst/>
          </a:prstGeom>
          <a:solidFill>
            <a:srgbClr val="E0E4E6"/>
          </a:solidFill>
          <a:ln/>
        </p:spPr>
      </p:sp>
      <p:sp>
        <p:nvSpPr>
          <p:cNvPr id="4" name="Text 2"/>
          <p:cNvSpPr/>
          <p:nvPr/>
        </p:nvSpPr>
        <p:spPr>
          <a:xfrm>
            <a:off x="1111619" y="1212751"/>
            <a:ext cx="2950097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CBI HACKATHON 2026 · PHASE II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82809" y="1149846"/>
            <a:ext cx="2894734" cy="394395"/>
          </a:xfrm>
          <a:prstGeom prst="roundRect">
            <a:avLst>
              <a:gd name="adj" fmla="val 6383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6ffbb">
                <a:alpha val="10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08615" y="1212751"/>
            <a:ext cx="3252706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TEAM SOLARIS · MNNIT ALLAHABAD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4200" y="1628080"/>
            <a:ext cx="5271757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TrustLayer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734200" y="2294632"/>
            <a:ext cx="10718631" cy="34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Continuous AI Behavioral Biometric Authentication for Secure Digital Banking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4200" y="2958802"/>
            <a:ext cx="11332879" cy="419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2050" i="1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"Protecting Sessions, Not Just Logins."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734200" y="3666629"/>
            <a:ext cx="10723294" cy="25400"/>
          </a:xfrm>
          <a:prstGeom prst="roundRect">
            <a:avLst>
              <a:gd name="adj" fmla="val 59999"/>
            </a:avLst>
          </a:prstGeom>
          <a:solidFill>
            <a:srgbClr val="E0E4E6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4200" y="3980359"/>
            <a:ext cx="3434570" cy="1223268"/>
          </a:xfrm>
          <a:prstGeom prst="roundRect">
            <a:avLst>
              <a:gd name="adj" fmla="val 25726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343" y="4215507"/>
            <a:ext cx="233108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[Member 1]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9343" y="4632722"/>
            <a:ext cx="2964284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Backend &amp; ML Pipeline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378513" y="3980359"/>
            <a:ext cx="3434570" cy="1223268"/>
          </a:xfrm>
          <a:prstGeom prst="roundRect">
            <a:avLst>
              <a:gd name="adj" fmla="val 25726"/>
            </a:avLst>
          </a:prstGeom>
          <a:solidFill>
            <a:srgbClr val="0A081B"/>
          </a:solidFill>
          <a:ln w="25399">
            <a:solidFill>
              <a:srgbClr val="29DD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3656" y="4215507"/>
            <a:ext cx="233108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[Member 2]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3656" y="4632722"/>
            <a:ext cx="2964284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Frontend &amp; SDK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8022826" y="3980359"/>
            <a:ext cx="3434669" cy="1223268"/>
          </a:xfrm>
          <a:prstGeom prst="roundRect">
            <a:avLst>
              <a:gd name="adj" fmla="val 25726"/>
            </a:avLst>
          </a:prstGeom>
          <a:solidFill>
            <a:srgbClr val="0A081B"/>
          </a:solidFill>
          <a:ln w="25399">
            <a:solidFill>
              <a:srgbClr val="37A7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968" y="4215507"/>
            <a:ext cx="233108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[Member 3]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57968" y="4632722"/>
            <a:ext cx="2964384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Research &amp; Data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34200" y="5439569"/>
            <a:ext cx="11332879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June 30,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609501"/>
            <a:ext cx="1187619" cy="342602"/>
          </a:xfrm>
          <a:prstGeom prst="roundRect">
            <a:avLst>
              <a:gd name="adj" fmla="val 6613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6ffb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47406" y="666055"/>
            <a:ext cx="1570792" cy="229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34200" y="1020068"/>
            <a:ext cx="6503329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Mid-Session Security Gap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34200" y="1799431"/>
            <a:ext cx="10723294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Banks verify identity at login. </a:t>
            </a:r>
            <a:pPr algn="l" indent="0" marL="0">
              <a:lnSpc>
                <a:spcPct val="127000"/>
              </a:lnSpc>
              <a:buNone/>
            </a:pPr>
            <a:r>
              <a:rPr lang="en-US" sz="14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Fraud happens after.</a:t>
            </a:r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Between OTP verification and logout, there is zero continuous identity verification — and attackers know it.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05845" y="2658765"/>
            <a:ext cx="3089495" cy="623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₹29,082 Cr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1401628" y="3503613"/>
            <a:ext cx="2097928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Banking fraud FY24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34200" y="3867745"/>
            <a:ext cx="3432784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India total · RBI Annual Report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51050" y="2658765"/>
            <a:ext cx="3089495" cy="623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47%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5046834" y="3503613"/>
            <a:ext cx="2097928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YoY growth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379406" y="3867745"/>
            <a:ext cx="3432784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 digital banking fraud · RBI 2024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96256" y="2658765"/>
            <a:ext cx="3089595" cy="623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34%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8692040" y="3503613"/>
            <a:ext cx="2097928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Bot-driven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8024612" y="3867745"/>
            <a:ext cx="3432883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Automated script attacks · CERT-In 2024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8274" y="4345781"/>
            <a:ext cx="5403219" cy="1902619"/>
          </a:xfrm>
          <a:prstGeom prst="roundRect">
            <a:avLst>
              <a:gd name="adj" fmla="val 23818"/>
            </a:avLst>
          </a:prstGeom>
          <a:solidFill>
            <a:srgbClr val="091231">
              <a:alpha val="7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87083" y="4515644"/>
            <a:ext cx="294761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Account Takeover (ATO)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87083" y="4947741"/>
            <a:ext cx="5025602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Stolen session cookies or credentials let attackers hijack active sessions while the legitimate user is away. RAM scraping and Remote Access Trojans (RATs) amplify the threat.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96552" y="4345781"/>
            <a:ext cx="5403219" cy="1902619"/>
          </a:xfrm>
          <a:prstGeom prst="roundRect">
            <a:avLst>
              <a:gd name="adj" fmla="val 23818"/>
            </a:avLst>
          </a:prstGeom>
          <a:solidFill>
            <a:srgbClr val="091231">
              <a:alpha val="7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385361" y="4515644"/>
            <a:ext cx="2828953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Automated Bot Scripts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385361" y="4947741"/>
            <a:ext cx="5025602" cy="860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Headless browsers fill forms at 0 ms speed. API abuse with stolen session tokens bypasses traditional CAPTCHA using ML-based solvers.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6086" y="621605"/>
            <a:ext cx="742733" cy="182860"/>
          </a:xfrm>
          <a:prstGeom prst="roundRect">
            <a:avLst>
              <a:gd name="adj" fmla="val 75508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6ffbb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5375041" y="656034"/>
            <a:ext cx="1214407" cy="114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7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SOLUTION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5306086" y="829667"/>
            <a:ext cx="4625165" cy="25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TrustLayer — Continuous Behavioral Trust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306086" y="1180009"/>
            <a:ext cx="6151409" cy="28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Zero friction for legitimate users. One JS file added to any portal. TrustLayer silently verifies identity throughout the entire banking session — not just at the front door.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83" y="1535906"/>
            <a:ext cx="3998416" cy="275550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11530" y="3250479"/>
            <a:ext cx="1034995" cy="12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User Types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460411" y="2109529"/>
            <a:ext cx="1034995" cy="12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SDK Captures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199947" y="3589367"/>
            <a:ext cx="1034995" cy="12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ML Analyses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9169851" y="2414133"/>
            <a:ext cx="1034995" cy="129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Adaptive Response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6086" y="4433292"/>
            <a:ext cx="2935413" cy="7632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4576" y="4560987"/>
            <a:ext cx="1278402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Invisible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484576" y="4783931"/>
            <a:ext cx="2629231" cy="28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Zero friction. No OTP added to normal flow. Operates 100% silently. Legitimate users never notice it.</a:t>
            </a:r>
            <a:endParaRPr lang="en-US" sz="9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06086" y="5259685"/>
            <a:ext cx="2935413" cy="9057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484576" y="5387380"/>
            <a:ext cx="1278402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Privacy First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484576" y="5610324"/>
            <a:ext cx="2629231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Only mean (μ) and std (σ) stored. Raw keystrokes never leave the browser. No biometric database to breach.</a:t>
            </a:r>
            <a:endParaRPr lang="en-US" sz="9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28432" y="4433292"/>
            <a:ext cx="2935413" cy="9057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06922" y="4560987"/>
            <a:ext cx="1278402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Drop-In Layer</a:t>
            </a:r>
            <a:endParaRPr lang="en-US" sz="1000" dirty="0"/>
          </a:p>
        </p:txBody>
      </p:sp>
      <p:sp>
        <p:nvSpPr>
          <p:cNvPr id="20" name="Text 13"/>
          <p:cNvSpPr/>
          <p:nvPr/>
        </p:nvSpPr>
        <p:spPr>
          <a:xfrm>
            <a:off x="8706922" y="4783931"/>
            <a:ext cx="2629231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One sdk.js file. No server infrastructure changes. Works with existing NetBanking. PSB-ready REST API.</a:t>
            </a:r>
            <a:endParaRPr lang="en-US" sz="9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28432" y="5402163"/>
            <a:ext cx="2935413" cy="76329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706922" y="5529858"/>
            <a:ext cx="1278402" cy="159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Adaptive Response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8706922" y="5752802"/>
            <a:ext cx="2629231" cy="28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Proportional, not binary. GREEN to RED-CRIT — every action scaled to threat level in real time.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611981"/>
            <a:ext cx="1062507" cy="270470"/>
          </a:xfrm>
          <a:prstGeom prst="roundRect">
            <a:avLst>
              <a:gd name="adj" fmla="val 69812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6ffb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28555" y="659110"/>
            <a:ext cx="1483382" cy="176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4200" y="929580"/>
            <a:ext cx="3406888" cy="34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4200" y="1456134"/>
            <a:ext cx="11332879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Three-tier pipeline: Browser → FastAPI Backend → SOC Dashboard. Designed for production-grade security at every layer.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1941909"/>
            <a:ext cx="471972" cy="952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4140" y="2099171"/>
            <a:ext cx="176605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Browser · User Device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4140" y="2435622"/>
            <a:ext cx="3691242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bank.html (BSB Portal) + sdk.js client SDK. Captures keystroke events, mouse coords, device fingerprint, nonce + timestamp.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37" y="3371652"/>
            <a:ext cx="471972" cy="952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60077" y="3528913"/>
            <a:ext cx="174829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FastAPI Backend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560077" y="3865364"/>
            <a:ext cx="3455306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48 endpoints · WebSocket broadcaster. Rate limiter, CORS guard, anti-replay nonces, full ML pipeline. SQLite WAL mode, 9 tables, auto-init.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172" y="4801394"/>
            <a:ext cx="471972" cy="952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96112" y="4958655"/>
            <a:ext cx="2019845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SOC Dashboard · Analyst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796112" y="5295106"/>
            <a:ext cx="3219270" cy="660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session feed, SHAP explainability, force freeze / dismiss controls, full audit search.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5501" y="1941909"/>
            <a:ext cx="2970138" cy="156229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72602" y="2039938"/>
            <a:ext cx="23593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850" dirty="0"/>
          </a:p>
        </p:txBody>
      </p:sp>
      <p:sp>
        <p:nvSpPr>
          <p:cNvPr id="17" name="Text 11"/>
          <p:cNvSpPr/>
          <p:nvPr/>
        </p:nvSpPr>
        <p:spPr>
          <a:xfrm>
            <a:off x="5581808" y="2550914"/>
            <a:ext cx="174829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Rate Limiter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581808" y="2887365"/>
            <a:ext cx="2617524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5 auth/min/IP · auto IP block for persistent bots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93607" y="1941909"/>
            <a:ext cx="2970138" cy="156229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860708" y="2039938"/>
            <a:ext cx="23593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850" dirty="0"/>
          </a:p>
        </p:txBody>
      </p:sp>
      <p:sp>
        <p:nvSpPr>
          <p:cNvPr id="21" name="Text 14"/>
          <p:cNvSpPr/>
          <p:nvPr/>
        </p:nvSpPr>
        <p:spPr>
          <a:xfrm>
            <a:off x="8669914" y="2550914"/>
            <a:ext cx="174829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CORS Guard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8669914" y="2887365"/>
            <a:ext cx="2617524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Origin whitelist · trusted origins only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05501" y="3622179"/>
            <a:ext cx="2970138" cy="156229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72602" y="3720207"/>
            <a:ext cx="23593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850" dirty="0"/>
          </a:p>
        </p:txBody>
      </p:sp>
      <p:sp>
        <p:nvSpPr>
          <p:cNvPr id="25" name="Text 17"/>
          <p:cNvSpPr/>
          <p:nvPr/>
        </p:nvSpPr>
        <p:spPr>
          <a:xfrm>
            <a:off x="5581808" y="4231184"/>
            <a:ext cx="174829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Anti-Replay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581808" y="4567634"/>
            <a:ext cx="2617524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UUID nonce check · 60-second expiry window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93607" y="3622179"/>
            <a:ext cx="2970138" cy="156229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860708" y="3720207"/>
            <a:ext cx="235936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850" dirty="0"/>
          </a:p>
        </p:txBody>
      </p:sp>
      <p:sp>
        <p:nvSpPr>
          <p:cNvPr id="29" name="Text 20"/>
          <p:cNvSpPr/>
          <p:nvPr/>
        </p:nvSpPr>
        <p:spPr>
          <a:xfrm>
            <a:off x="8669914" y="4231184"/>
            <a:ext cx="1748290" cy="218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ML Engine</a:t>
            </a:r>
            <a:endParaRPr lang="en-US" sz="1350" dirty="0"/>
          </a:p>
        </p:txBody>
      </p:sp>
      <p:sp>
        <p:nvSpPr>
          <p:cNvPr id="30" name="Text 21"/>
          <p:cNvSpPr/>
          <p:nvPr/>
        </p:nvSpPr>
        <p:spPr>
          <a:xfrm>
            <a:off x="8669914" y="4567634"/>
            <a:ext cx="2617524" cy="440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LSTM Keystroke → LSTM Mouse → XGBoost (0-100) → SHAP-lite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607516"/>
            <a:ext cx="833714" cy="154583"/>
          </a:xfrm>
          <a:prstGeom prst="roundRect">
            <a:avLst>
              <a:gd name="adj" fmla="val 77742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6ffbb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94226" y="637480"/>
            <a:ext cx="1323247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MACHINE LEARNING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734200" y="781149"/>
            <a:ext cx="2669513" cy="222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Three-Model ML Pipeline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4200" y="1075234"/>
            <a:ext cx="11332879" cy="11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Bot Pre-Screen → LSTM Keystroke → LSTM Mouse → XGBoost Fusion. Each stage feeds the next, building a complete behavioral trust score.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784108" y="1898154"/>
            <a:ext cx="123167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83.68%</a:t>
            </a:r>
            <a:endParaRPr lang="en-US" sz="19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8975" y="1272282"/>
            <a:ext cx="1502134" cy="15021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43737" y="2847181"/>
            <a:ext cx="1112710" cy="13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Accuracy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34200" y="3014960"/>
            <a:ext cx="5331783" cy="11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XGBoost Fusion classifier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8175619" y="1898154"/>
            <a:ext cx="123167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77.37%</a:t>
            </a:r>
            <a:endParaRPr lang="en-US" sz="1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486" y="1272282"/>
            <a:ext cx="1502134" cy="15021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35248" y="2847181"/>
            <a:ext cx="1112710" cy="13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Recall ★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125712" y="3014960"/>
            <a:ext cx="5331783" cy="11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 metric — over 3 in 4 intruders caught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2784108" y="3879652"/>
            <a:ext cx="123167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88.54%</a:t>
            </a:r>
            <a:endParaRPr lang="en-US" sz="1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975" y="3253780"/>
            <a:ext cx="1502134" cy="15021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43737" y="4828679"/>
            <a:ext cx="1112710" cy="13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Precision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734200" y="4996458"/>
            <a:ext cx="5331783" cy="11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Minimizing false alarms</a:t>
            </a:r>
            <a:endParaRPr lang="en-US" sz="750" dirty="0"/>
          </a:p>
        </p:txBody>
      </p:sp>
      <p:sp>
        <p:nvSpPr>
          <p:cNvPr id="18" name="Text 13"/>
          <p:cNvSpPr/>
          <p:nvPr/>
        </p:nvSpPr>
        <p:spPr>
          <a:xfrm>
            <a:off x="8175619" y="3879652"/>
            <a:ext cx="1231671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82.58%</a:t>
            </a:r>
            <a:endParaRPr lang="en-US" sz="1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486" y="3253780"/>
            <a:ext cx="1502134" cy="15021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35248" y="4828679"/>
            <a:ext cx="1112710" cy="13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F1 Score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6125712" y="4996458"/>
            <a:ext cx="5331783" cy="11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Balanced performance</a:t>
            </a:r>
            <a:endParaRPr lang="en-US" sz="750" dirty="0"/>
          </a:p>
        </p:txBody>
      </p:sp>
      <p:sp>
        <p:nvSpPr>
          <p:cNvPr id="22" name="Shape 16"/>
          <p:cNvSpPr/>
          <p:nvPr/>
        </p:nvSpPr>
        <p:spPr>
          <a:xfrm>
            <a:off x="662070" y="5168503"/>
            <a:ext cx="5383772" cy="514052"/>
          </a:xfrm>
          <a:prstGeom prst="roundRect">
            <a:avLst>
              <a:gd name="adj" fmla="val 46756"/>
            </a:avLst>
          </a:prstGeom>
          <a:solidFill>
            <a:srgbClr val="091231">
              <a:alpha val="75000"/>
            </a:srgbClr>
          </a:solidFill>
          <a:ln/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762179" y="5216227"/>
            <a:ext cx="1887887" cy="13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1: LSTM Keystroke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762179" y="5403056"/>
            <a:ext cx="5183554" cy="236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CMU Keystroke Dynamics · 51 subjects, 17,340 sequences. GRU encoder-decoder. Output: reconstruction error → anomaly score.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152202" y="5168503"/>
            <a:ext cx="5383772" cy="514052"/>
          </a:xfrm>
          <a:prstGeom prst="roundRect">
            <a:avLst>
              <a:gd name="adj" fmla="val 46756"/>
            </a:avLst>
          </a:prstGeom>
          <a:solidFill>
            <a:srgbClr val="091231">
              <a:alpha val="75000"/>
            </a:srgbClr>
          </a:solidFill>
          <a:ln/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6252312" y="5216227"/>
            <a:ext cx="1724379" cy="13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2: LSTM Mouse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6252312" y="5403056"/>
            <a:ext cx="5183554" cy="236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Balabit Mouse Dynamics (CC BY 4.0) · 10 users, 76,543 segments. Features: velocity, acceleration, jerk, curvature → trajectory anomaly.</a:t>
            </a:r>
            <a:endParaRPr lang="en-US" sz="750" dirty="0"/>
          </a:p>
        </p:txBody>
      </p:sp>
      <p:sp>
        <p:nvSpPr>
          <p:cNvPr id="28" name="Shape 22"/>
          <p:cNvSpPr/>
          <p:nvPr/>
        </p:nvSpPr>
        <p:spPr>
          <a:xfrm>
            <a:off x="662070" y="5736332"/>
            <a:ext cx="5383772" cy="514052"/>
          </a:xfrm>
          <a:prstGeom prst="roundRect">
            <a:avLst>
              <a:gd name="adj" fmla="val 46756"/>
            </a:avLst>
          </a:prstGeom>
          <a:solidFill>
            <a:srgbClr val="091231">
              <a:alpha val="75000"/>
            </a:srgbClr>
          </a:solidFill>
          <a:ln/>
        </p:spPr>
        <p:txBody>
          <a:bodyPr/>
          <a:p/>
        </p:txBody>
      </p:sp>
      <p:sp>
        <p:nvSpPr>
          <p:cNvPr id="29" name="Text 23"/>
          <p:cNvSpPr/>
          <p:nvPr/>
        </p:nvSpPr>
        <p:spPr>
          <a:xfrm>
            <a:off x="762179" y="5784056"/>
            <a:ext cx="1886498" cy="13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Model 3: XGBoost Fusion</a:t>
            </a:r>
            <a:endParaRPr lang="en-US" sz="850" dirty="0"/>
          </a:p>
        </p:txBody>
      </p:sp>
      <p:sp>
        <p:nvSpPr>
          <p:cNvPr id="30" name="Text 24"/>
          <p:cNvSpPr/>
          <p:nvPr/>
        </p:nvSpPr>
        <p:spPr>
          <a:xfrm>
            <a:off x="762179" y="5970885"/>
            <a:ext cx="5183554" cy="236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KMT dataset · 88 users, 1,760 real sessions. GroupKFold(5) — zero subject leakage. 27 combined features → Risk Score 0-100.</a:t>
            </a:r>
            <a:endParaRPr lang="en-US" sz="750" dirty="0"/>
          </a:p>
        </p:txBody>
      </p:sp>
      <p:sp>
        <p:nvSpPr>
          <p:cNvPr id="31" name="Shape 25"/>
          <p:cNvSpPr/>
          <p:nvPr/>
        </p:nvSpPr>
        <p:spPr>
          <a:xfrm>
            <a:off x="6152202" y="5736332"/>
            <a:ext cx="5383772" cy="514052"/>
          </a:xfrm>
          <a:prstGeom prst="roundRect">
            <a:avLst>
              <a:gd name="adj" fmla="val 46756"/>
            </a:avLst>
          </a:prstGeom>
          <a:solidFill>
            <a:srgbClr val="091231">
              <a:alpha val="75000"/>
            </a:srgbClr>
          </a:solidFill>
          <a:ln/>
        </p:spPr>
        <p:txBody>
          <a:bodyPr/>
          <a:p/>
        </p:txBody>
      </p:sp>
      <p:sp>
        <p:nvSpPr>
          <p:cNvPr id="32" name="Text 26"/>
          <p:cNvSpPr/>
          <p:nvPr/>
        </p:nvSpPr>
        <p:spPr>
          <a:xfrm>
            <a:off x="6252312" y="5784056"/>
            <a:ext cx="1954759" cy="139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SHAP Feature Importance</a:t>
            </a:r>
            <a:endParaRPr lang="en-US" sz="850" dirty="0"/>
          </a:p>
        </p:txBody>
      </p:sp>
      <p:sp>
        <p:nvSpPr>
          <p:cNvPr id="33" name="Text 27"/>
          <p:cNvSpPr/>
          <p:nvPr/>
        </p:nvSpPr>
        <p:spPr>
          <a:xfrm>
            <a:off x="6252312" y="5970885"/>
            <a:ext cx="5183554" cy="236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Keystroke features: 45.4% · Session metadata: 25.0% · Mouse features: 20.9% · Enrollment data: 8.7%. Inference under 2 ms.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727770"/>
            <a:ext cx="1843637" cy="394395"/>
          </a:xfrm>
          <a:prstGeom prst="roundRect">
            <a:avLst>
              <a:gd name="adj" fmla="val 6383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6ffbb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60007" y="790674"/>
            <a:ext cx="2201609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ADAPTIVE RESPONSE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4200" y="1206004"/>
            <a:ext cx="6615542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Adaptive Risk Response — 7 Bands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34200" y="1986756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binary block/allow. </a:t>
            </a:r>
            <a:pPr algn="l" indent="0" marL="0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Every action is proportional to the threat level.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34200" y="2558455"/>
            <a:ext cx="10723294" cy="3067248"/>
          </a:xfrm>
          <a:prstGeom prst="roundRect">
            <a:avLst>
              <a:gd name="adj" fmla="val 10260"/>
            </a:avLst>
          </a:prstGeom>
          <a:solidFill>
            <a:srgbClr val="0A081B"/>
          </a:solidFill>
          <a:ln w="25399">
            <a:solidFill>
              <a:srgbClr val="16FFB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59600" y="2583855"/>
            <a:ext cx="1778749" cy="184398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9343" y="2793603"/>
            <a:ext cx="1359263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GREEN 0-30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9343" y="3210818"/>
            <a:ext cx="1359263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Silent continue · 30s interval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2538349" y="2583855"/>
            <a:ext cx="1778749" cy="184398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538349" y="2583855"/>
            <a:ext cx="25399" cy="1843980"/>
          </a:xfrm>
          <a:prstGeom prst="roundRect">
            <a:avLst>
              <a:gd name="adj" fmla="val 1239024"/>
            </a:avLst>
          </a:prstGeom>
          <a:solidFill>
            <a:srgbClr val="0FC3C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748092" y="2793603"/>
            <a:ext cx="1359263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AMB-LOW 31-45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48092" y="3502223"/>
            <a:ext cx="1359263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10s polling started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317098" y="2583855"/>
            <a:ext cx="1778749" cy="184398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17098" y="2583855"/>
            <a:ext cx="25399" cy="1843980"/>
          </a:xfrm>
          <a:prstGeom prst="roundRect">
            <a:avLst>
              <a:gd name="adj" fmla="val 1239024"/>
            </a:avLst>
          </a:prstGeom>
          <a:solidFill>
            <a:srgbClr val="1D8DC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26841" y="2793603"/>
            <a:ext cx="1359263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AMB-MID 46-60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841" y="3502223"/>
            <a:ext cx="1359263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Soft challenge modal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6095848" y="2583855"/>
            <a:ext cx="1778749" cy="184398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095848" y="2583855"/>
            <a:ext cx="25399" cy="1843980"/>
          </a:xfrm>
          <a:prstGeom prst="roundRect">
            <a:avLst>
              <a:gd name="adj" fmla="val 1239024"/>
            </a:avLst>
          </a:prstGeom>
          <a:solidFill>
            <a:srgbClr val="222B4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05591" y="2793603"/>
            <a:ext cx="1359263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AMB-HIGH 61-70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5591" y="3502223"/>
            <a:ext cx="1359263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Transfers blocked + OTP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7874597" y="2583855"/>
            <a:ext cx="1778749" cy="184398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874597" y="2583855"/>
            <a:ext cx="25399" cy="1843980"/>
          </a:xfrm>
          <a:prstGeom prst="roundRect">
            <a:avLst>
              <a:gd name="adj" fmla="val 1239024"/>
            </a:avLst>
          </a:prstGeom>
          <a:solidFill>
            <a:srgbClr val="00E5A1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84340" y="2793603"/>
            <a:ext cx="1359263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RED-LOW 71-82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84340" y="3502223"/>
            <a:ext cx="1359263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Session freeze overlay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9653346" y="2583855"/>
            <a:ext cx="1778749" cy="184398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653346" y="2583855"/>
            <a:ext cx="25399" cy="1843980"/>
          </a:xfrm>
          <a:prstGeom prst="roundRect">
            <a:avLst>
              <a:gd name="adj" fmla="val 1239024"/>
            </a:avLst>
          </a:prstGeom>
          <a:solidFill>
            <a:srgbClr val="0FC3C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863089" y="2793603"/>
            <a:ext cx="1359263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RED-HIGH 83-95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63089" y="3502223"/>
            <a:ext cx="1359263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Freeze + SOC alert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759600" y="4427835"/>
            <a:ext cx="10672496" cy="1172468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59600" y="4427835"/>
            <a:ext cx="10672496" cy="25400"/>
          </a:xfrm>
          <a:prstGeom prst="roundRect">
            <a:avLst>
              <a:gd name="adj" fmla="val 1238975"/>
            </a:avLst>
          </a:prstGeom>
          <a:solidFill>
            <a:srgbClr val="1D8DCD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969343" y="4637584"/>
            <a:ext cx="233108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RED-CRIT 96-100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9343" y="5054798"/>
            <a:ext cx="1025300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Instant lockdown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734200" y="5861645"/>
            <a:ext cx="11332879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 binary block/allow. Every action is proportional to the threat level.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714375"/>
            <a:ext cx="1834608" cy="318095"/>
          </a:xfrm>
          <a:prstGeom prst="roundRect">
            <a:avLst>
              <a:gd name="adj" fmla="val 6727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6ffb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41156" y="767854"/>
            <a:ext cx="2230282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4200" y="1093093"/>
            <a:ext cx="593005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Core Features &amp; Security Hardening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734200" y="1716584"/>
            <a:ext cx="11332879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Innovations and production-grade security built directly into the codebase — not bolted on after.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8801" y="2295922"/>
            <a:ext cx="2502730" cy="1489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3291" y="2321322"/>
            <a:ext cx="224824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Explainable AI (SHAP-lite)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3291" y="2968129"/>
            <a:ext cx="2248241" cy="791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Real-time SHAP attribution scores. Plain English SOC alerts.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75536" y="2295922"/>
            <a:ext cx="2502830" cy="14890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30026" y="2321322"/>
            <a:ext cx="217462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Cold Start Solver (EMA)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3630026" y="2720479"/>
            <a:ext cx="2248340" cy="791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CMU/Balabit global prior blending. +5% personal weight per session.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4280" y="2295922"/>
            <a:ext cx="2502730" cy="17528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48770" y="2321322"/>
            <a:ext cx="2248241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ShieldBotCheck Pre-ML Layer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548770" y="2968129"/>
            <a:ext cx="2248241" cy="1055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Headless/WebDriver flag check, 0 ms dwell time. Blocks scripts before ML runs.</a:t>
            </a:r>
            <a:endParaRPr lang="en-US" sz="14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61015" y="2295922"/>
            <a:ext cx="2502830" cy="175289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215505" y="2321322"/>
            <a:ext cx="22483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PBKDF2-SHA256 Password Hash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9215505" y="2968129"/>
            <a:ext cx="2248340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100,000 iterations. Random 16-byte salt per user.</a:t>
            </a:r>
            <a:endParaRPr lang="en-US" sz="14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8801" y="4509393"/>
            <a:ext cx="2502730" cy="148907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63291" y="4534793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Anti-Replay Nonces</a:t>
            </a:r>
            <a:endParaRPr lang="en-US" sz="1550" dirty="0"/>
          </a:p>
        </p:txBody>
      </p:sp>
      <p:sp>
        <p:nvSpPr>
          <p:cNvPr id="20" name="Text 13"/>
          <p:cNvSpPr/>
          <p:nvPr/>
        </p:nvSpPr>
        <p:spPr>
          <a:xfrm>
            <a:off x="963291" y="4933950"/>
            <a:ext cx="2248241" cy="791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crypto.randomUUID() on sdk.js calls. 60s timestamp window server-side.</a:t>
            </a:r>
            <a:endParaRPr lang="en-US" sz="1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75536" y="4509393"/>
            <a:ext cx="2502830" cy="148907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30026" y="4534793"/>
            <a:ext cx="22483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Stat-Only Biometric Storage</a:t>
            </a:r>
            <a:endParaRPr lang="en-US" sz="1550" dirty="0"/>
          </a:p>
        </p:txBody>
      </p:sp>
      <p:sp>
        <p:nvSpPr>
          <p:cNvPr id="23" name="Text 15"/>
          <p:cNvSpPr/>
          <p:nvPr/>
        </p:nvSpPr>
        <p:spPr>
          <a:xfrm>
            <a:off x="3630026" y="5181600"/>
            <a:ext cx="2248340" cy="791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Only μ and σ stored. Raw events stay in browser. IT Act 2000 &amp; GDPR compliant.</a:t>
            </a:r>
            <a:endParaRPr lang="en-US" sz="14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94280" y="4509393"/>
            <a:ext cx="2502730" cy="122525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548770" y="4534793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NIST SP 800-63B</a:t>
            </a:r>
            <a:endParaRPr lang="en-US" sz="1550" dirty="0"/>
          </a:p>
        </p:txBody>
      </p:sp>
      <p:sp>
        <p:nvSpPr>
          <p:cNvPr id="26" name="Text 17"/>
          <p:cNvSpPr/>
          <p:nvPr/>
        </p:nvSpPr>
        <p:spPr>
          <a:xfrm>
            <a:off x="6548770" y="4933950"/>
            <a:ext cx="2248241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Password standards compliant design</a:t>
            </a:r>
            <a:endParaRPr lang="en-US" sz="14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61015" y="4509393"/>
            <a:ext cx="2502830" cy="122525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215505" y="4534793"/>
            <a:ext cx="224834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RBI Digital Payment Guidelines</a:t>
            </a:r>
            <a:endParaRPr lang="en-US" sz="1550" dirty="0"/>
          </a:p>
        </p:txBody>
      </p:sp>
      <p:sp>
        <p:nvSpPr>
          <p:cNvPr id="29" name="Text 19"/>
          <p:cNvSpPr/>
          <p:nvPr/>
        </p:nvSpPr>
        <p:spPr>
          <a:xfrm>
            <a:off x="9215505" y="5181600"/>
            <a:ext cx="2248340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minimisation aligned. OWASP API Top 10 compliant.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915293"/>
            <a:ext cx="1506103" cy="394395"/>
          </a:xfrm>
          <a:prstGeom prst="roundRect">
            <a:avLst>
              <a:gd name="adj" fmla="val 6383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6ffb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60007" y="978198"/>
            <a:ext cx="1864075" cy="2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LIVE PROTOTYPE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4200" y="1393527"/>
            <a:ext cx="10568914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Live Prototype — Bharat Suraksha Bank + SOC Dashboard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34200" y="2174280"/>
            <a:ext cx="11332879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Running at localhost:8080 · Three threat personas · Unedited live demo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200" y="2745978"/>
            <a:ext cx="1971725" cy="12186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4200" y="4226818"/>
            <a:ext cx="3016274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Legitimate Owner → GREEN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4200" y="4644033"/>
            <a:ext cx="3399546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Keystroke rhythm matches baseline. Risk stays below 25. Silent continue — user notices nothing.</a:t>
            </a:r>
            <a:endParaRPr lang="en-US" sz="16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975" y="2745978"/>
            <a:ext cx="1971725" cy="12186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95975" y="4226818"/>
            <a:ext cx="2831037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Human Intruder → AMBER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395975" y="4644033"/>
            <a:ext cx="3399645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Hesitant rhythm, wrong flight times. Step-up challenge modal triggered. SOC notified for review.</a:t>
            </a:r>
            <a:endParaRPr lang="en-US" sz="1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849" y="2745978"/>
            <a:ext cx="1971725" cy="12186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57849" y="4226818"/>
            <a:ext cx="3399645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Automated Bot → RED CRITICAL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8057849" y="4935438"/>
            <a:ext cx="3399645" cy="10072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 ms dwell detected pre-ML. Instant UI freeze. Score set to 97. Session terminated on the spot.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629940"/>
            <a:ext cx="1993156" cy="318095"/>
          </a:xfrm>
          <a:prstGeom prst="roundRect">
            <a:avLst>
              <a:gd name="adj" fmla="val 67274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16ffbb">
                <a:alpha val="10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841156" y="683419"/>
            <a:ext cx="2388830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ENGINEERING 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4200" y="1008658"/>
            <a:ext cx="5816058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Challenges &amp; How We Solved Them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734200" y="1632148"/>
            <a:ext cx="11332879" cy="263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Three core engineering problems encountered and resolved during development.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4200" y="2601416"/>
            <a:ext cx="3473363" cy="36265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7891" y="2956620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Cold Start Problem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37891" y="3295154"/>
            <a:ext cx="3065981" cy="2729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New users have no personal baseline — nothing to compare against on session 1.</a:t>
            </a:r>
            <a:endParaRPr lang="en-US" sz="14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Solution: EMA Progressive Blend.</a:t>
            </a:r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CMU global prior as starting profile. +5% personal weight per session (Exponential Moving Average). Fully personalised by session 15. Device class tracked separately for new-device scenarios.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9067" y="2333923"/>
            <a:ext cx="3473462" cy="38940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62758" y="2689126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Dataset Bias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562758" y="3027660"/>
            <a:ext cx="3066080" cy="2729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CMU and Balabit are Western datasets. Indian banking users type differently — bilingual, regional scripts, different layouts.</a:t>
            </a:r>
            <a:endParaRPr lang="en-US" sz="14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Solution: KMT Retraining + EMA Drift.</a:t>
            </a:r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Retrained XGBoost on KMT (88 real banking users). GroupKFold(5) — zero subject leakage. Isolation Forest fallback for mouse when keystroke data is sparse.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84032" y="2066429"/>
            <a:ext cx="3473462" cy="41615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87723" y="2421632"/>
            <a:ext cx="198134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Real-Time SOC Sync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187723" y="2760166"/>
            <a:ext cx="3066080" cy="2729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Problem:</a:t>
            </a:r>
            <a:pPr algn="l" indent="0" marL="0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WebSocket disconnections caused stale session state during live demos.</a:t>
            </a:r>
            <a:endParaRPr lang="en-US" sz="140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Solution: Exponential Backoff + State Replay.</a:t>
            </a:r>
            <a:pPr algn="l" indent="0" marL="0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Reconnect: 5s → 10s → 30s. Full state re-fetched from REST on reconnect. Missed events replayed from SQLite audit log. Heartbeat ping/pong for early TCP drop-out detection.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4200" y="616744"/>
            <a:ext cx="866059" cy="247848"/>
          </a:xfrm>
          <a:prstGeom prst="roundRect">
            <a:avLst>
              <a:gd name="adj" fmla="val 71105"/>
            </a:avLst>
          </a:prstGeom>
          <a:solidFill>
            <a:srgbClr val="004D36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22304" y="681930"/>
            <a:ext cx="117472" cy="117475"/>
          </a:xfrm>
          <a:prstGeom prst="rect">
            <a:avLst/>
          </a:prstGeom>
          <a:solidFill>
            <a:srgbClr val="E0E4E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998513" y="660797"/>
            <a:ext cx="1123227" cy="159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4200" y="905669"/>
            <a:ext cx="4132854" cy="326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Expected Impact &amp; Roadmap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1257467" y="1459508"/>
            <a:ext cx="2442109" cy="484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8 Billion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515231" y="2094706"/>
            <a:ext cx="192658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Monthly UPI transactions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4200" y="2360315"/>
            <a:ext cx="3488742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one a potential fraud vector. TrustLayer can protect every session at the moment of payment.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74694" y="1459508"/>
            <a:ext cx="2442109" cy="484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₹29,082 Cr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271856" y="2094706"/>
            <a:ext cx="1647883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Annual banking fraud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51427" y="2360315"/>
            <a:ext cx="3488742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Addressable by continuous session verification at the NetBanking layer. Source: RBI Annual Report.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91920" y="1459508"/>
            <a:ext cx="2442109" cy="484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77.4%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897120" y="2094706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Intruder recall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68654" y="2360315"/>
            <a:ext cx="3488742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Over 3 in 4 attackers caught silently — with ZERO added friction for legitimate customers.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4200" y="4127401"/>
            <a:ext cx="10723294" cy="19050"/>
          </a:xfrm>
          <a:prstGeom prst="roundRect">
            <a:avLst>
              <a:gd name="adj" fmla="val 1156375"/>
            </a:avLst>
          </a:prstGeom>
          <a:solidFill>
            <a:srgbClr val="FFFFFF">
              <a:alpha val="24000"/>
            </a:srgbClr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830739" y="3686870"/>
            <a:ext cx="19050" cy="440531"/>
          </a:xfrm>
          <a:prstGeom prst="roundRect">
            <a:avLst>
              <a:gd name="adj" fmla="val 1156375"/>
            </a:avLst>
          </a:prstGeom>
          <a:solidFill>
            <a:srgbClr val="16FFBB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675069" y="3962202"/>
            <a:ext cx="330390" cy="330398"/>
          </a:xfrm>
          <a:prstGeom prst="roundRect">
            <a:avLst>
              <a:gd name="adj" fmla="val 66676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42387" y="4005064"/>
            <a:ext cx="195754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24409" y="2875161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NOW · Done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81040" y="3140770"/>
            <a:ext cx="391854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Web portal NetBanking · Continuous auth active · LSTM + XGBoost live · SOC dashboard running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01095" y="4127401"/>
            <a:ext cx="19050" cy="440531"/>
          </a:xfrm>
          <a:prstGeom prst="roundRect">
            <a:avLst>
              <a:gd name="adj" fmla="val 1156375"/>
            </a:avLst>
          </a:prstGeom>
          <a:solidFill>
            <a:srgbClr val="29DDDA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845425" y="3962202"/>
            <a:ext cx="330390" cy="330398"/>
          </a:xfrm>
          <a:prstGeom prst="roundRect">
            <a:avLst>
              <a:gd name="adj" fmla="val 66676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912743" y="4005064"/>
            <a:ext cx="195754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94765" y="4714776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2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051396" y="4980384"/>
            <a:ext cx="391854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UPI-specific layer · VPA pattern scoring · Transaction velocity · UPI PIN timing analysis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71451" y="3686870"/>
            <a:ext cx="19050" cy="440531"/>
          </a:xfrm>
          <a:prstGeom prst="roundRect">
            <a:avLst>
              <a:gd name="adj" fmla="val 1156375"/>
            </a:avLst>
          </a:prstGeom>
          <a:solidFill>
            <a:srgbClr val="37A7E7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015781" y="3962202"/>
            <a:ext cx="330390" cy="330398"/>
          </a:xfrm>
          <a:prstGeom prst="roundRect">
            <a:avLst>
              <a:gd name="adj" fmla="val 66676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083099" y="4005064"/>
            <a:ext cx="195754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365120" y="2875161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3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221752" y="3140770"/>
            <a:ext cx="391854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Native mobile SDK · iOS + Android · Gyroscope biometrics · Touch pressure + area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41807" y="4127401"/>
            <a:ext cx="19050" cy="440531"/>
          </a:xfrm>
          <a:prstGeom prst="roundRect">
            <a:avLst>
              <a:gd name="adj" fmla="val 1156375"/>
            </a:avLst>
          </a:prstGeom>
          <a:solidFill>
            <a:srgbClr val="091231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186137" y="3962202"/>
            <a:ext cx="330390" cy="330398"/>
          </a:xfrm>
          <a:prstGeom prst="roundRect">
            <a:avLst>
              <a:gd name="adj" fmla="val 66676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253455" y="4005064"/>
            <a:ext cx="195754" cy="244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535476" y="4714776"/>
            <a:ext cx="1631711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Phase 4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392108" y="4980384"/>
            <a:ext cx="391854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Federated learning · Indian population prior · On-device retraining · Zero PII to server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34200" y="5495230"/>
            <a:ext cx="19050" cy="745927"/>
          </a:xfrm>
          <a:prstGeom prst="roundRect">
            <a:avLst>
              <a:gd name="adj" fmla="val 59999"/>
            </a:avLst>
          </a:prstGeom>
          <a:solidFill>
            <a:srgbClr val="16FFBB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54460" y="5610820"/>
            <a:ext cx="10503034" cy="514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900"/>
              </a:spcAft>
              <a:buNone/>
            </a:pPr>
            <a:r>
              <a:rPr lang="en-US" sz="115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"Zero infrastructure change. One JavaScript file. Any existing PSB portal is protected."</a:t>
            </a:r>
            <a:endParaRPr lang="en-US" sz="11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TrustLayer — Protecting Sessions, Not Just Logins.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2026-06-30T15:53:03Z</dcterms:created>
  <dcterms:modified xsi:type="dcterms:W3CDTF">2026-06-30T15:53:03Z</dcterms:modified>
</cp:coreProperties>
</file>