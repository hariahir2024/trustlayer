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261104" y="1600200"/>
            <a:ext cx="3657600" cy="3657600"/>
          </a:xfrm>
          <a:prstGeom prst="ellipse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Inter"/>
              </a:defRPr>
            </a:pPr>
            <a:r>
              <a:t>TrustLayer</a:t>
            </a:r>
          </a:p>
          <a:p>
            <a:pPr algn="ctr">
              <a:spcBef>
                <a:spcPts val="1500"/>
              </a:spcBef>
              <a:defRPr sz="2000">
                <a:solidFill>
                  <a:srgbClr val="06B6D4"/>
                </a:solidFill>
                <a:latin typeface="Inter"/>
              </a:defRPr>
            </a:pPr>
            <a:r>
              <a:t>Continuous AI Behavioral Biometric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463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Inter"/>
              </a:defRPr>
            </a:pPr>
            <a:r>
              <a:t>Team SOLARIS  •  MNNIT Allahabad</a:t>
            </a:r>
          </a:p>
          <a:p>
            <a:pPr algn="ctr">
              <a:spcBef>
                <a:spcPts val="800"/>
              </a:spcBef>
              <a:defRPr sz="1200">
                <a:solidFill>
                  <a:srgbClr val="94A3B8"/>
                </a:solidFill>
                <a:latin typeface="Inter"/>
              </a:defRPr>
            </a:pPr>
            <a:r>
              <a:t>Cyber Security Hackathon 2026 Phase II  •  Bharat Suraksha 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Inter"/>
              </a:defRPr>
            </a:pPr>
            <a:r>
              <a:t>Team SOLARIS  •  CBI Hackathon 2026 Phase II  •  TrustLayer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Inter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Meet Team SOLARIS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128016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783080"/>
            <a:ext cx="3840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Inter"/>
              </a:defRPr>
            </a:pPr>
            <a:r>
              <a:t>Hari Ahir</a:t>
            </a:r>
          </a:p>
          <a:p>
            <a:pPr>
              <a:spcBef>
                <a:spcPts val="300"/>
              </a:spcBef>
              <a:defRPr sz="1100" b="1">
                <a:solidFill>
                  <a:srgbClr val="06B6D4"/>
                </a:solidFill>
                <a:latin typeface="Inter"/>
              </a:defRPr>
            </a:pPr>
            <a:r>
              <a:t>Lead Backend &amp; ML Engineer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Inter"/>
              </a:defRPr>
            </a:pPr>
            <a:r>
              <a:t>Implemented PyTorch LSTMs, XGBoost fusion, SQLite schema, &amp; lockout backend.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5029200" cy="128016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246120"/>
            <a:ext cx="3840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Inter"/>
              </a:defRPr>
            </a:pPr>
            <a:r>
              <a:t>Team Solaris Member 2</a:t>
            </a:r>
          </a:p>
          <a:p>
            <a:pPr>
              <a:spcBef>
                <a:spcPts val="300"/>
              </a:spcBef>
              <a:defRPr sz="1100" b="1">
                <a:solidFill>
                  <a:srgbClr val="06B6D4"/>
                </a:solidFill>
                <a:latin typeface="Inter"/>
              </a:defRPr>
            </a:pPr>
            <a:r>
              <a:t>Frontend &amp; SDK Developer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Inter"/>
              </a:defRPr>
            </a:pPr>
            <a:r>
              <a:t>Created static/js/sdk.js telemetry recorder, bank.html interface &amp; dashboard.js chart feeds.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5029200" cy="128016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709160"/>
            <a:ext cx="3840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Inter"/>
              </a:defRPr>
            </a:pPr>
            <a:r>
              <a:t>Team Solaris Member 3</a:t>
            </a:r>
          </a:p>
          <a:p>
            <a:pPr>
              <a:spcBef>
                <a:spcPts val="300"/>
              </a:spcBef>
              <a:defRPr sz="1100" b="1">
                <a:solidFill>
                  <a:srgbClr val="06B6D4"/>
                </a:solidFill>
                <a:latin typeface="Inter"/>
              </a:defRPr>
            </a:pPr>
            <a:r>
              <a:t>Security Researcher &amp; QA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Inter"/>
              </a:defRPr>
            </a:pPr>
            <a:r>
              <a:t>Analyzed CMU/Balabit telemetry distributions, KMT datasets, &amp; wrote verify_integration.py.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377440"/>
            <a:ext cx="521208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200" b="1">
                <a:solidFill>
                  <a:srgbClr val="06B6D4"/>
                </a:solidFill>
                <a:latin typeface="Georgia"/>
              </a:defRPr>
            </a:pPr>
            <a:r>
              <a:t>“</a:t>
            </a:r>
          </a:p>
          <a:p>
            <a:pPr>
              <a:spcBef>
                <a:spcPts val="1000"/>
              </a:spcBef>
              <a:defRPr sz="2200" b="1">
                <a:solidFill>
                  <a:srgbClr val="FFFFFF"/>
                </a:solidFill>
                <a:latin typeface="Inter"/>
              </a:defRPr>
            </a:pPr>
            <a:r>
              <a:t>We set out to answer one critical question:</a:t>
            </a:r>
            <a:br/>
            <a:r>
              <a:t>If an attacker already has your NetBanking password — what stops them?</a:t>
            </a:r>
          </a:p>
          <a:p>
            <a:pPr>
              <a:spcBef>
                <a:spcPts val="1500"/>
              </a:spcBef>
              <a:defRPr sz="1400">
                <a:solidFill>
                  <a:srgbClr val="94A3B8"/>
                </a:solidFill>
                <a:latin typeface="Inter"/>
              </a:defRPr>
            </a:pPr>
            <a:r>
              <a:t>Our solution is TrustLayer: continuous invisible behavioral validation, blocking account takeovers at the point of action.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Inter"/>
              </a:defRPr>
            </a:pPr>
            <a:r>
              <a:t>Team SOLARIS  •  CBI Hackathon 2026 Phase II  •  TrustLayer Prototype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Inter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The Mid-Session Security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48056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Inter"/>
              </a:defRPr>
            </a:pPr>
            <a:r>
              <a:t>Current Authentication Strategy:</a:t>
            </a:r>
          </a:p>
          <a:p>
            <a:pPr>
              <a:spcBef>
                <a:spcPts val="1500"/>
              </a:spcBef>
              <a:defRPr sz="1300">
                <a:solidFill>
                  <a:srgbClr val="10B981"/>
                </a:solidFill>
                <a:latin typeface="Inter"/>
              </a:defRPr>
            </a:pPr>
            <a:r>
              <a:t>🟢 LOGIN CHECK (Static &amp; Weak)</a:t>
            </a:r>
            <a:br/>
            <a:r>
              <a:t>Password + OTP verification occurs only once at the gate.</a:t>
            </a:r>
          </a:p>
          <a:p>
            <a:pPr>
              <a:spcBef>
                <a:spcPts val="1500"/>
              </a:spcBef>
              <a:defRPr sz="1300">
                <a:solidFill>
                  <a:srgbClr val="EF4444"/>
                </a:solidFill>
                <a:latin typeface="Inter"/>
              </a:defRPr>
            </a:pPr>
            <a:r>
              <a:t>🔴 MID-SESSION BLIND SPOT (The Gap)</a:t>
            </a:r>
            <a:br/>
            <a:r>
              <a:t>After login, the session is trusted unconditionally. If a session token is hijacked, or a device is left open, the bank is blind.</a:t>
            </a:r>
          </a:p>
          <a:p>
            <a:pPr>
              <a:spcBef>
                <a:spcPts val="2000"/>
              </a:spcBef>
              <a:defRPr sz="1300">
                <a:solidFill>
                  <a:srgbClr val="94A3B8"/>
                </a:solidFill>
                <a:latin typeface="Inter"/>
              </a:defRPr>
            </a:pPr>
            <a:r>
              <a:t>🚨 ATTACK VECTORS CAPTURED:</a:t>
            </a:r>
            <a:br/>
            <a:r>
              <a:t>• Account Takeover (Session hijacking)</a:t>
            </a:r>
            <a:br/>
            <a:r>
              <a:t>• Credential Sharing (Unauthorized logins)</a:t>
            </a:r>
            <a:br/>
            <a:r>
              <a:t>• Automated Bots (Programmatic credential stuffing)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128016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6634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Inter"/>
              </a:defRPr>
            </a:pPr>
            <a:r>
              <a:t>₹29,082 Cr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  <a:latin typeface="Inter"/>
              </a:defRPr>
            </a:pPr>
            <a:r>
              <a:t>Banking Fraud FY23-24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Inter"/>
              </a:defRPr>
            </a:pPr>
            <a:r>
              <a:t>Reported by RBI Annual Report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108960"/>
            <a:ext cx="5212080" cy="128016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3246120"/>
            <a:ext cx="46634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Inter"/>
              </a:defRPr>
            </a:pPr>
            <a:r>
              <a:t>47% YoY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  <a:latin typeface="Inter"/>
              </a:defRPr>
            </a:pPr>
            <a:r>
              <a:t>Growth in Digital Frauds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Inter"/>
              </a:defRPr>
            </a:pPr>
            <a:r>
              <a:t>Rising threat vector in digital channels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572000"/>
            <a:ext cx="5212080" cy="128016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709160"/>
            <a:ext cx="46634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Inter"/>
              </a:defRPr>
            </a:pPr>
            <a:r>
              <a:t>34% attacks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  <a:latin typeface="Inter"/>
              </a:defRPr>
            </a:pPr>
            <a:r>
              <a:t>Via Automated Scripts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Inter"/>
              </a:defRPr>
            </a:pPr>
            <a:r>
              <a:t>Bots and headless browsers bypassing front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Inter"/>
              </a:defRPr>
            </a:pPr>
            <a:r>
              <a:t>Team SOLARIS  •  CBI Hackathon 2026 Phase II  •  TrustLayer Prototype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Inter"/>
              </a:defRPr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TrustLayer — Continuous Behavioral Trust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64592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149840" cy="1280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Inter"/>
              </a:defRPr>
            </a:pPr>
            <a:r>
              <a:t>How TrustLayer Secures the Session:</a:t>
            </a:r>
          </a:p>
          <a:p>
            <a:pPr>
              <a:spcBef>
                <a:spcPts val="1500"/>
              </a:spcBef>
              <a:defRPr sz="1250" b="1">
                <a:solidFill>
                  <a:srgbClr val="06B6D4"/>
                </a:solidFill>
                <a:latin typeface="Inter"/>
              </a:defRPr>
            </a:pPr>
            <a:r>
              <a:t>⌨️ USER TYPING (Keystroke timings)   ──▶   🖱️ MOUSE NAVIGATION (Trajectories)   ──▶   🧠 3-MODEL ML FUSION   ──▶   🚦 DYNAMIC BLOCK/CHALLENGE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  <a:latin typeface="Inter"/>
              </a:defRPr>
            </a:pPr>
            <a:r>
              <a:t>Runs silently in the browser. Zero friction for legitimate users. No tokens or SMS required unless anomaly detected.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3383280" cy="246888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301752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Inter"/>
              </a:defRPr>
            </a:pPr>
            <a:r>
              <a:t>👁️ Invisible Security</a:t>
            </a:r>
          </a:p>
          <a:p>
            <a:pPr>
              <a:spcBef>
                <a:spcPts val="1000"/>
              </a:spcBef>
              <a:defRPr sz="1150">
                <a:solidFill>
                  <a:srgbClr val="94A3B8"/>
                </a:solidFill>
                <a:latin typeface="Inter"/>
              </a:defRPr>
            </a:pPr>
            <a:r>
              <a:t>Passive telemetry monitors keystroke flight times, mouse velocity, and screen interaction curves without interrupting the banking 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566160"/>
            <a:ext cx="3383280" cy="246888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3749039"/>
            <a:ext cx="301752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Inter"/>
              </a:defRPr>
            </a:pPr>
            <a:r>
              <a:t>🔒 Privacy By Design</a:t>
            </a:r>
          </a:p>
          <a:p>
            <a:pPr>
              <a:spcBef>
                <a:spcPts val="1000"/>
              </a:spcBef>
              <a:defRPr sz="1150">
                <a:solidFill>
                  <a:srgbClr val="94A3B8"/>
                </a:solidFill>
                <a:latin typeface="Inter"/>
              </a:defRPr>
            </a:pPr>
            <a:r>
              <a:t>Raw keystrokes or coordinates never leave the user's browser. The SDK processes events locally and transmits only normalized timings (μ/σ) to the backend.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566160"/>
            <a:ext cx="3383280" cy="246888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3749039"/>
            <a:ext cx="301752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Inter"/>
              </a:defRPr>
            </a:pPr>
            <a:r>
              <a:t>🔌 Drop-In SDK Integration</a:t>
            </a:r>
          </a:p>
          <a:p>
            <a:pPr>
              <a:spcBef>
                <a:spcPts val="1000"/>
              </a:spcBef>
              <a:defRPr sz="1150">
                <a:solidFill>
                  <a:srgbClr val="94A3B8"/>
                </a:solidFill>
                <a:latin typeface="Inter"/>
              </a:defRPr>
            </a:pPr>
            <a:r>
              <a:t>Can be embedded into any digital portal by adding a single JavaScript SDK line. No infrastructure refactoring or hardware token requirements.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Inter"/>
              </a:defRPr>
            </a:pPr>
            <a:r>
              <a:t>Team SOLARIS  •  CBI Hackathon 2026 Phase II  •  TrustLayer Prototype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Inter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System Architecture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0B1329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0B1329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0B132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CLIENT LAYER (SDK)</a:t>
            </a:r>
          </a:p>
          <a:p>
            <a:pPr>
              <a:spcBef>
                <a:spcPts val="1500"/>
              </a:spcBef>
              <a:defRPr sz="1150">
                <a:solidFill>
                  <a:srgbClr val="94A3B8"/>
                </a:solidFill>
              </a:defRPr>
            </a:pPr>
            <a:r>
              <a:t>📁 static/js/sdk.js</a:t>
            </a:r>
            <a:br/>
            <a:r>
              <a:t>📁 static/js/bank.js</a:t>
            </a:r>
            <a:br/>
            <a:br/>
            <a:r>
              <a:t>• Listens to keydown/keyup timestamps on username + password.</a:t>
            </a:r>
            <a:br/>
            <a:r>
              <a:t>• Records mouse coordinates dynamically.</a:t>
            </a:r>
            <a:br/>
            <a:r>
              <a:t>• Extracts browser metadata (screen resolution, timezone, language).</a:t>
            </a:r>
            <a:br/>
            <a:r>
              <a:t>• Signs requests with incremental nonces &amp; timestamps.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BACKEND API LAYER</a:t>
            </a:r>
          </a:p>
          <a:p>
            <a:pPr>
              <a:spcBef>
                <a:spcPts val="1500"/>
              </a:spcBef>
              <a:defRPr sz="1150">
                <a:solidFill>
                  <a:srgbClr val="94A3B8"/>
                </a:solidFill>
              </a:defRPr>
            </a:pPr>
            <a:r>
              <a:t>📁 app.py (FastAPI)</a:t>
            </a:r>
            <a:br/>
            <a:r>
              <a:t>📁 db_sqlite.py (SQLite)</a:t>
            </a:r>
            <a:br/>
            <a:br/>
            <a:r>
              <a:t>• Exposes REST endpoints for auth, score, registration &amp; re-auth.</a:t>
            </a:r>
            <a:br/>
            <a:r>
              <a:t>• Validates CORS, IP blocks, and token authenticity.</a:t>
            </a:r>
            <a:br/>
            <a:r>
              <a:t>• Implements persistent lockout tracking via database.</a:t>
            </a:r>
            <a:br/>
            <a:r>
              <a:t>• SQLite runs in WAL mode for concurrently handling score updates.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ML SCORING ENGINE</a:t>
            </a:r>
          </a:p>
          <a:p>
            <a:pPr>
              <a:spcBef>
                <a:spcPts val="1500"/>
              </a:spcBef>
              <a:defRPr sz="1150">
                <a:solidFill>
                  <a:srgbClr val="94A3B8"/>
                </a:solidFill>
              </a:defRPr>
            </a:pPr>
            <a:r>
              <a:t>📁 ml_engine.py (AI Engine)</a:t>
            </a:r>
            <a:br/>
            <a:r>
              <a:t>📁 models/ (Pre-trained files)</a:t>
            </a:r>
            <a:br/>
            <a:br/>
            <a:r>
              <a:t>• Evaluates keystroke reconstruction error via PyTorch LSTM.</a:t>
            </a:r>
            <a:br/>
            <a:r>
              <a:t>• Evaluates mouse trajectories anomaly via PyTorch LSTM.</a:t>
            </a:r>
            <a:br/>
            <a:r>
              <a:t>• Combines timings, device metrics, &amp; time-of-day history.</a:t>
            </a:r>
            <a:br/>
            <a:r>
              <a:t>• Fuses scores using XGBoost Classifier with SHAP explainability.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Inter"/>
              </a:defRPr>
            </a:pPr>
            <a:r>
              <a:t>Team SOLARIS  •  CBI Hackathon 2026 Phase II  •  TrustLayer Prototype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Inter"/>
              </a:defRPr>
            </a:pPr>
            <a:r>
              <a:t>ML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The Three-Model ML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128016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6634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Inter"/>
              </a:defRPr>
            </a:pPr>
            <a:r>
              <a:t>🤖 Heuristic pre-screen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Inter"/>
              </a:defRPr>
            </a:pPr>
            <a:r>
              <a:t>Instant bot filters: checks WebDriver flag, zero velocity cursor, 0ms flight time. Bypasses ML on bot detections to save CPU.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5029200" cy="128016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46634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Inter"/>
              </a:defRPr>
            </a:pPr>
            <a:r>
              <a:t>🧠 LSTM Autoencoders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Inter"/>
              </a:defRPr>
            </a:pPr>
            <a:r>
              <a:t>Double neural networks (Keystroke &amp; Mouse). Trained on Balabit &amp; CMU datasets to reconstruct sequence timings. High MSE = anomaly.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5029200" cy="128016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709160"/>
            <a:ext cx="46634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Inter"/>
              </a:defRPr>
            </a:pPr>
            <a:r>
              <a:t>🌲 XGBoost Fusion Classifier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Inter"/>
              </a:defRPr>
            </a:pPr>
            <a:r>
              <a:t>Blends Keystroke score, Mouse score, Device Class risk, and Time-of-day history. Predicts fraud probabilities with SHAP features.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Inter"/>
              </a:defRPr>
            </a:pPr>
            <a:r>
              <a:t>Dataset &amp; Training Metrics:</a:t>
            </a:r>
          </a:p>
          <a:p>
            <a:pPr>
              <a:spcBef>
                <a:spcPts val="1500"/>
              </a:spcBef>
              <a:defRPr sz="1200">
                <a:solidFill>
                  <a:srgbClr val="94A3B8"/>
                </a:solidFill>
                <a:latin typeface="Inter"/>
              </a:defRPr>
            </a:pPr>
            <a:r>
              <a:t>📊 Trained on KMT Dataset (88 users, real banking sessions)</a:t>
            </a:r>
            <a:br/>
            <a:r>
              <a:t>• XGBoost Fusion Accuracy: 86.87%</a:t>
            </a:r>
            <a:br/>
            <a:r>
              <a:t>• Intruder Detection Recall: 92.40% (high safety index)</a:t>
            </a:r>
            <a:br/>
            <a:r>
              <a:t>• Precision: 79.41%  • F1-Score: 85.41%</a:t>
            </a:r>
            <a:br/>
            <a:r>
              <a:t>• Execution Latency: &lt; 2ms (ideal for real-time gating)</a:t>
            </a:r>
          </a:p>
          <a:p>
            <a:pPr>
              <a:spcBef>
                <a:spcPts val="2000"/>
              </a:spcBef>
              <a:defRPr sz="1300" b="1">
                <a:solidFill>
                  <a:srgbClr val="FFFFFF"/>
                </a:solidFill>
                <a:latin typeface="Inter"/>
              </a:defRPr>
            </a:pPr>
            <a:r>
              <a:t>🎯 Feature Importance Distribution (SHAP):</a:t>
            </a:r>
          </a:p>
          <a:p>
            <a:pPr>
              <a:spcBef>
                <a:spcPts val="1000"/>
              </a:spcBef>
              <a:defRPr sz="1100">
                <a:solidFill>
                  <a:srgbClr val="06B6D4"/>
                </a:solidFill>
                <a:latin typeface="Inter"/>
              </a:defRPr>
            </a:pPr>
            <a:r>
              <a:t>• Keystroke Cadence: 45.36% contribution</a:t>
            </a:r>
            <a:br/>
            <a:r>
              <a:t>• Metadata &amp; Time-of-day check: 24.98% contribution</a:t>
            </a:r>
            <a:br/>
            <a:r>
              <a:t>• Mouse Cursor Velocity: 20.85% contribution</a:t>
            </a:r>
            <a:br/>
            <a:r>
              <a:t>• Device Fingerprint Match: 8.81% contribution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Inter"/>
              </a:defRPr>
            </a:pPr>
            <a:r>
              <a:t>Team SOLARIS  •  CBI Hackathon 2026 Phase II  •  TrustLayer Prototype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Inter"/>
              </a:defRPr>
            </a:pPr>
            <a:r>
              <a:t>RISK ESCALATION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Proportional Security — The 7-Band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698480" cy="365760"/>
          </a:xfrm>
          <a:prstGeom prst="rect">
            <a:avLst/>
          </a:prstGeom>
          <a:solidFill>
            <a:srgbClr val="0B1329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20040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31920" y="1645920"/>
            <a:ext cx="4297680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1645920"/>
            <a:ext cx="320040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  <a:latin typeface="Inter"/>
              </a:defRPr>
            </a:pPr>
            <a:r>
              <a:t>0  ─────────  30 (GREEN)  ─────────  45 (AMBER_L)  ─────  70 (AMBER_H)  ──────  82 (RED_H)  ─────  100 (RED_C)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3383280" cy="310896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301752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Inter"/>
              </a:defRPr>
            </a:pPr>
            <a:r>
              <a:t>🟢 GREEN (0-30)</a:t>
            </a:r>
          </a:p>
          <a:p>
            <a:pPr>
              <a:spcBef>
                <a:spcPts val="1200"/>
              </a:spcBef>
              <a:defRPr sz="1150">
                <a:solidFill>
                  <a:srgbClr val="94A3B8"/>
                </a:solidFill>
                <a:latin typeface="Inter"/>
              </a:defRPr>
            </a:pPr>
            <a:r>
              <a:t>Active session continues silently. Telemetry interval set to standard 15 seconds. Minimal scoring overhead.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926080"/>
            <a:ext cx="3383280" cy="310896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108960"/>
            <a:ext cx="301752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Inter"/>
              </a:defRPr>
            </a:pPr>
            <a:r>
              <a:t>🟡 AMBER (31-70)</a:t>
            </a:r>
          </a:p>
          <a:p>
            <a:pPr>
              <a:spcBef>
                <a:spcPts val="1200"/>
              </a:spcBef>
              <a:defRPr sz="1150">
                <a:solidFill>
                  <a:srgbClr val="94A3B8"/>
                </a:solidFill>
                <a:latin typeface="Inter"/>
              </a:defRPr>
            </a:pPr>
            <a:r>
              <a:t>Soft step-up re-auth modal (types baseline). Limits high-value transactions. Polling drops to 10 seconds.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926080"/>
            <a:ext cx="3383280" cy="310896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3108960"/>
            <a:ext cx="301752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Inter"/>
              </a:defRPr>
            </a:pPr>
            <a:r>
              <a:t>🔴 RED (71-100)</a:t>
            </a:r>
          </a:p>
          <a:p>
            <a:pPr>
              <a:spcBef>
                <a:spcPts val="1200"/>
              </a:spcBef>
              <a:defRPr sz="1150">
                <a:solidFill>
                  <a:srgbClr val="94A3B8"/>
                </a:solidFill>
                <a:latin typeface="Inter"/>
              </a:defRPr>
            </a:pPr>
            <a:r>
              <a:t>Instant UI overlay freeze. Session invalidated. SMS/ntfy pushes sent. Telemetry interval accelerated to 5 seconds.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Inter"/>
              </a:defRPr>
            </a:pPr>
            <a:r>
              <a:t>Team SOLARIS  •  CBI Hackathon 2026 Phase II  •  TrustLayer Prototype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Inter"/>
              </a:defRPr>
            </a:pPr>
            <a: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What Makes TrustLayer Different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0175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FFFFF"/>
                </a:solidFill>
                <a:latin typeface="Inter"/>
              </a:defRPr>
            </a:pPr>
            <a:r>
              <a:t>🔍 Explainable AI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Inter"/>
              </a:defRPr>
            </a:pPr>
            <a:r>
              <a:t>SHAP-lite feature attribution converts weights to plain English messages: 'Key flight time G→H deviated 3.4σ from enrolled mean'.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201168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30175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FFFFF"/>
                </a:solidFill>
                <a:latin typeface="Inter"/>
              </a:defRPr>
            </a:pPr>
            <a:r>
              <a:t>🛡️ Bot Pre-Screening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Inter"/>
              </a:defRPr>
            </a:pPr>
            <a:r>
              <a:t>Heuristic filters intercept selenium/playwright automation immediately, flagging bot signatures before expensive ML pipelines run.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201168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83080"/>
            <a:ext cx="30175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FFFFF"/>
                </a:solidFill>
                <a:latin typeface="Inter"/>
              </a:defRPr>
            </a:pPr>
            <a:r>
              <a:t>❄️ Cold Start Solver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Inter"/>
              </a:defRPr>
            </a:pPr>
            <a:r>
              <a:t>Blends global CMU/Balabit population priors with user-specific data using Exponential Moving Average, maturing at 15 sessions.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30175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FFFFF"/>
                </a:solidFill>
                <a:latin typeface="Inter"/>
              </a:defRPr>
            </a:pPr>
            <a:r>
              <a:t>🔒 No Biometric Storage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Inter"/>
              </a:defRPr>
            </a:pPr>
            <a:r>
              <a:t>Complies with RBI storage guidelines. Processes key timings in client browser. Stores only statistical features (μ/σ).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931920"/>
            <a:ext cx="3383280" cy="201168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069080"/>
            <a:ext cx="30175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FFFFF"/>
                </a:solidFill>
                <a:latin typeface="Inter"/>
              </a:defRPr>
            </a:pPr>
            <a:r>
              <a:t>🔁 Replay Protection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Inter"/>
              </a:defRPr>
            </a:pPr>
            <a:r>
              <a:t>Telemetry API payloads signed with UUID nonces and 60-second timestamp windows to prevent capture-and-replay attacks.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931920"/>
            <a:ext cx="3383280" cy="201168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069080"/>
            <a:ext cx="30175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FFFFF"/>
                </a:solidFill>
                <a:latin typeface="Inter"/>
              </a:defRPr>
            </a:pPr>
            <a:r>
              <a:t>📊 SOC Incident Feed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Inter"/>
              </a:defRPr>
            </a:pPr>
            <a:r>
              <a:t>WebSockets push risk alerts and feature breakdowns to a live security console. Analysts can force-freeze or dismiss sessions.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Inter"/>
              </a:defRPr>
            </a:pPr>
            <a:r>
              <a:t>Team SOLARIS  •  CBI Hackathon 2026 Phase II  •  TrustLayer Prototype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Inter"/>
              </a:defRPr>
            </a:pPr>
            <a:r>
              <a:t>INTERACTIVE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Live Prototype Visual Interface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4805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🏛️ BHARAT SURAKSHA BANK PORTAL</a:t>
            </a:r>
          </a:p>
          <a:p>
            <a:pPr>
              <a:spcBef>
                <a:spcPts val="1500"/>
              </a:spcBef>
              <a:defRPr sz="1100">
                <a:solidFill>
                  <a:srgbClr val="94A3B8"/>
                </a:solidFill>
              </a:defRPr>
            </a:pPr>
            <a:r>
              <a:t>A fully interactive internet banking mockup:</a:t>
            </a:r>
            <a:br/>
            <a:br/>
            <a:r>
              <a:t>• Dynamic Passphrase Generation: custom 11-char string based on first &amp; last name suffix to maintain LSTM shape.</a:t>
            </a:r>
            <a:br/>
            <a:r>
              <a:t>• Fund Transfer &amp; UPI Panel: gates transactions through risk rules.</a:t>
            </a:r>
            <a:br/>
            <a:r>
              <a:t>• Floating Demo Controller: lets examiners trigger 3 attack personas instantly:</a:t>
            </a:r>
            <a:br/>
            <a:r>
              <a:t>  1. Legitimate user (GREEN - continue)</a:t>
            </a:r>
            <a:br/>
            <a:r>
              <a:t>  2. Human Intruder (RED_HIGH - frozen overlay)</a:t>
            </a:r>
            <a:br/>
            <a:r>
              <a:t>  3. Automated Bot (RED_CRITICAL - locked)</a:t>
            </a:r>
            <a:br/>
            <a:r>
              <a:t>• Real-Time push notifications sent to user's phone via ntfy.sh topic.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📊 FRAUD OPS SECURITY DASHBOARD</a:t>
            </a:r>
          </a:p>
          <a:p>
            <a:pPr>
              <a:spcBef>
                <a:spcPts val="1500"/>
              </a:spcBef>
              <a:defRPr sz="1100">
                <a:solidFill>
                  <a:srgbClr val="94A3B8"/>
                </a:solidFill>
              </a:defRPr>
            </a:pPr>
            <a:r>
              <a:t>The live security console for banking fraud teams:</a:t>
            </a:r>
            <a:br/>
            <a:br/>
            <a:r>
              <a:t>• WebSocket Real-Time feed: score changes push updates to timeline without page refresh.</a:t>
            </a:r>
            <a:br/>
            <a:r>
              <a:t>• Feature Attributions Panel: visualizes exactly which keystroke positions or mouse intervals caused risk peaks.</a:t>
            </a:r>
            <a:br/>
            <a:r>
              <a:t>• Analyst Overrides: 'Force Freeze' to lock compromised session, or 'Mark False Positive' to restore access &amp; downgrade threat score.</a:t>
            </a:r>
            <a:br/>
            <a:r>
              <a:t>• Frozen Sessions Tab: shows full details of all auto-frozen, manually blocked, and bot-blocked sessions.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Inter"/>
              </a:defRPr>
            </a:pPr>
            <a:r>
              <a:t>Team SOLARIS  •  CBI Hackathon 2026 Phase II  •  TrustLayer 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Inter"/>
              </a:defRPr>
            </a:pPr>
            <a:r>
              <a:t>SECURITY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Enterprise-Grade Security Standards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669280" cy="438912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5120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Inter"/>
              </a:defRPr>
            </a:pPr>
            <a:r>
              <a:t>Core Protection Layers:</a:t>
            </a:r>
          </a:p>
          <a:p>
            <a:pPr>
              <a:spcBef>
                <a:spcPts val="1500"/>
              </a:spcBef>
              <a:defRPr sz="1200">
                <a:solidFill>
                  <a:srgbClr val="94A3B8"/>
                </a:solidFill>
                <a:latin typeface="Inter"/>
              </a:defRPr>
            </a:pPr>
            <a:r>
              <a:t>• Credential Hashing: PBKDF2-SHA256 with 100k iterations and randomized salt. Wipes out dictionary attack vectors.</a:t>
            </a:r>
            <a:br/>
            <a:br/>
            <a:r>
              <a:t>• Persistent Rate Limiter: Blocks IP addresses sending &gt;5 incorrect passwords within 60 seconds (prevents brute-force).</a:t>
            </a:r>
            <a:br/>
            <a:br/>
            <a:r>
              <a:t>• Robust Session Lockout: SQLite-backed table persists consecutive failures (password or biometrics) across server reboots. Lock duration is 15 minutes.</a:t>
            </a:r>
            <a:br/>
            <a:br/>
            <a:r>
              <a:t>• Dynamic Transaction Gating: Soft limits (₹5,000) trigger step-up verification. Hard limits (₹10,000) block immediately on compromised sessions.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645920"/>
            <a:ext cx="2286000" cy="192024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783080"/>
            <a:ext cx="20116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Inter"/>
              </a:defRPr>
            </a:pPr>
            <a:r>
              <a:t>NIST SP 800-63B</a:t>
            </a:r>
          </a:p>
          <a:p>
            <a:pPr>
              <a:spcBef>
                <a:spcPts val="1000"/>
              </a:spcBef>
              <a:defRPr sz="1050">
                <a:solidFill>
                  <a:srgbClr val="94A3B8"/>
                </a:solidFill>
                <a:latin typeface="Inter"/>
              </a:defRPr>
            </a:pPr>
            <a:r>
              <a:t>Authentication Guidelines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645920"/>
            <a:ext cx="2286000" cy="192024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81160" y="1783080"/>
            <a:ext cx="20116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Inter"/>
              </a:defRPr>
            </a:pPr>
            <a:r>
              <a:t>OWASP API Top 10</a:t>
            </a:r>
          </a:p>
          <a:p>
            <a:pPr>
              <a:spcBef>
                <a:spcPts val="1000"/>
              </a:spcBef>
              <a:defRPr sz="1050">
                <a:solidFill>
                  <a:srgbClr val="94A3B8"/>
                </a:solidFill>
                <a:latin typeface="Inter"/>
              </a:defRPr>
            </a:pPr>
            <a:r>
              <a:t>Injection &amp; Rate-limit guards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749040"/>
            <a:ext cx="2286000" cy="192024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3886200"/>
            <a:ext cx="20116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Inter"/>
              </a:defRPr>
            </a:pPr>
            <a:r>
              <a:t>RBI Digital Payments</a:t>
            </a:r>
          </a:p>
          <a:p>
            <a:pPr>
              <a:spcBef>
                <a:spcPts val="1000"/>
              </a:spcBef>
              <a:defRPr sz="1050">
                <a:solidFill>
                  <a:srgbClr val="94A3B8"/>
                </a:solidFill>
                <a:latin typeface="Inter"/>
              </a:defRPr>
            </a:pPr>
            <a:r>
              <a:t>Security directive compliant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3749040"/>
            <a:ext cx="2286000" cy="192024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1160" y="3886200"/>
            <a:ext cx="20116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Inter"/>
              </a:defRPr>
            </a:pPr>
            <a:r>
              <a:t>IT Act 2000 (Data Privacy)</a:t>
            </a:r>
          </a:p>
          <a:p>
            <a:pPr>
              <a:spcBef>
                <a:spcPts val="1000"/>
              </a:spcBef>
              <a:defRPr sz="1050">
                <a:solidFill>
                  <a:srgbClr val="94A3B8"/>
                </a:solidFill>
                <a:latin typeface="Inter"/>
              </a:defRPr>
            </a:pPr>
            <a:r>
              <a:t>Stat-only storage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Inter"/>
              </a:defRPr>
            </a:pPr>
            <a:r>
              <a:t>Team SOLARIS  •  CBI Hackathon 2026 Phase II  •  TrustLayer Prototype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Inter"/>
              </a:defRPr>
            </a:pPr>
            <a:r>
              <a:t>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Challenges &amp; How We Solved Them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Inter"/>
              </a:defRPr>
            </a:pPr>
            <a:r>
              <a:t>⚡ COLD START CHALLENGE</a:t>
            </a:r>
          </a:p>
          <a:p>
            <a:pPr>
              <a:spcBef>
                <a:spcPts val="400"/>
              </a:spcBef>
              <a:defRPr sz="1100" b="1">
                <a:solidFill>
                  <a:srgbClr val="06B6D4"/>
                </a:solidFill>
                <a:latin typeface="Inter"/>
              </a:defRPr>
            </a:pPr>
            <a:r>
              <a:t>Biometric Enrollment Gap</a:t>
            </a:r>
          </a:p>
          <a:p>
            <a:pPr>
              <a:spcBef>
                <a:spcPts val="1500"/>
              </a:spcBef>
              <a:defRPr sz="1050">
                <a:solidFill>
                  <a:srgbClr val="94A3B8"/>
                </a:solidFill>
                <a:latin typeface="Inter"/>
              </a:defRPr>
            </a:pPr>
            <a:r>
              <a:t>Enrolled profiles require baseline data. A first-time user has no history, making authentic authentication impossible on session 1.</a:t>
            </a:r>
            <a:br/>
            <a:br/>
            <a:r>
              <a:t>✔ Solution: Hybrid Prior Blending. Blended population mean (CMU/Balabit benchmarks) with incoming user samples using Exponential Moving Average. Full transition completed at session 15.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Inter"/>
              </a:defRPr>
            </a:pPr>
            <a:r>
              <a:t>⚡ DATASET BIAS CHALLENGE</a:t>
            </a:r>
          </a:p>
          <a:p>
            <a:pPr>
              <a:spcBef>
                <a:spcPts val="400"/>
              </a:spcBef>
              <a:defRPr sz="1100" b="1">
                <a:solidFill>
                  <a:srgbClr val="06B6D4"/>
                </a:solidFill>
                <a:latin typeface="Inter"/>
              </a:defRPr>
            </a:pPr>
            <a:r>
              <a:t>Western Keyboard Prior Bias</a:t>
            </a:r>
          </a:p>
          <a:p>
            <a:pPr>
              <a:spcBef>
                <a:spcPts val="1500"/>
              </a:spcBef>
              <a:defRPr sz="1050">
                <a:solidFill>
                  <a:srgbClr val="94A3B8"/>
                </a:solidFill>
                <a:latin typeface="Inter"/>
              </a:defRPr>
            </a:pPr>
            <a:r>
              <a:t>Academic biometrics datasets are collected on Western populations with specific layout behaviors. Indian typing cadences (bilingual, different shorthands) vary.</a:t>
            </a:r>
            <a:br/>
            <a:br/>
            <a:r>
              <a:t>✔ Solution: KMT custom banking dataset consisting of 88 users with real billing input timings. XGBoost fusion was trained directly on this custom set, improving baseline accuracy to 86.87%.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Inter"/>
              </a:defRPr>
            </a:pPr>
            <a:r>
              <a:t>⚡ LOCALHOST BANS CHALLENGE</a:t>
            </a:r>
          </a:p>
          <a:p>
            <a:pPr>
              <a:spcBef>
                <a:spcPts val="400"/>
              </a:spcBef>
              <a:defRPr sz="1100" b="1">
                <a:solidFill>
                  <a:srgbClr val="06B6D4"/>
                </a:solidFill>
                <a:latin typeface="Inter"/>
              </a:defRPr>
            </a:pPr>
            <a:r>
              <a:t>Developer Lockout During Demos</a:t>
            </a:r>
          </a:p>
          <a:p>
            <a:pPr>
              <a:spcBef>
                <a:spcPts val="1500"/>
              </a:spcBef>
              <a:defRPr sz="1050">
                <a:solidFill>
                  <a:srgbClr val="94A3B8"/>
                </a:solidFill>
                <a:latin typeface="Inter"/>
              </a:defRPr>
            </a:pPr>
            <a:r>
              <a:t>Auto-blocking IPs of bot threats works in production, but on localhost (127.0.0.1) it blocks the developer's own browser, breaking live presentations.</a:t>
            </a:r>
            <a:br/>
            <a:br/>
            <a:r>
              <a:t>✔ Solution: Loopback Bypass. Implemented a network guard in db_sqlite.py to detect loopback/localhost IPs. The system logs the threat event but bypasses the IP-block execution, keeping the demo running.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Inter"/>
              </a:defRPr>
            </a:pPr>
            <a:r>
              <a:t>Team SOLARIS  •  CBI Hackathon 2026 Phase II  •  TrustLayer Prototype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Inter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Impact &amp; Future Development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164592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0175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6B6D4"/>
                </a:solidFill>
                <a:latin typeface="Inter"/>
              </a:defRPr>
            </a:pPr>
            <a:r>
              <a:t>8 Billion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  <a:latin typeface="Inter"/>
              </a:defRPr>
            </a:pPr>
            <a:r>
              <a:t>Monthly UPI Transactions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Inter"/>
              </a:defRPr>
            </a:pPr>
            <a:r>
              <a:t>Every digital payment can be passively verified &amp; protected.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164592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30175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6B6D4"/>
                </a:solidFill>
                <a:latin typeface="Inter"/>
              </a:defRPr>
            </a:pPr>
            <a:r>
              <a:t>₹29,082 Crore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  <a:latin typeface="Inter"/>
              </a:defRPr>
            </a:pPr>
            <a:r>
              <a:t>Addressable Annual Fraud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Inter"/>
              </a:defRPr>
            </a:pPr>
            <a:r>
              <a:t>Mitigates credential theft losses across Indian banking networks.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164592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83080"/>
            <a:ext cx="30175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6B6D4"/>
                </a:solidFill>
                <a:latin typeface="Inter"/>
              </a:defRPr>
            </a:pPr>
            <a:r>
              <a:t>92.4% Recall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  <a:latin typeface="Inter"/>
              </a:defRPr>
            </a:pPr>
            <a:r>
              <a:t>High intruder block rate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Inter"/>
              </a:defRPr>
            </a:pPr>
            <a:r>
              <a:t>Catches 9 in 10 hijackers with zero friction for legit owners.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10698480" cy="246888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749039"/>
            <a:ext cx="1014984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Inter"/>
              </a:defRPr>
            </a:pPr>
            <a:r>
              <a:t>Deployment Roadmap Phases:</a:t>
            </a:r>
          </a:p>
          <a:p>
            <a:pPr>
              <a:spcBef>
                <a:spcPts val="1000"/>
              </a:spcBef>
              <a:defRPr sz="1150">
                <a:solidFill>
                  <a:srgbClr val="94A3B8"/>
                </a:solidFill>
                <a:latin typeface="Inter"/>
              </a:defRPr>
            </a:pPr>
            <a:r>
              <a:t>✔ [Phase 1 - NetBanking] NetBanking Web SDK with dynamic passphrase calibration &amp; SQLite persistent lockout. (Done)</a:t>
            </a:r>
            <a:br/>
            <a:r>
              <a:t>⏳ [Phase 2 - Mobile SDK] Gyroscope, Accelerometer, and Touch Pressure behavioral capture on Native Android &amp; iOS.</a:t>
            </a:r>
            <a:br/>
            <a:r>
              <a:t>⏳ [Phase 3 - UPI Layer] Passively analyzing Virtual Payment Address (VPA) entry rhythms and transaction speed velocity.</a:t>
            </a:r>
            <a:br/>
            <a:r>
              <a:t>⏳ [Phase 4 - Federated Learning] Passive opt-in Indian Population Prior model updates via secure on-device training.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Inter"/>
              </a:defRPr>
            </a:pPr>
            <a:r>
              <a:t>Team SOLARIS  •  CBI Hackathon 2026 Phase II  •  TrustLayer Prototype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Inter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